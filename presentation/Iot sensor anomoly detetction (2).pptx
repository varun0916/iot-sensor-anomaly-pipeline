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notesMasterIdLst>
    <p:notesMasterId r:id="rId19"/>
  </p:notesMasterIdLst>
  <p:sldIdLst>
    <p:sldId id="264" r:id="rId2"/>
    <p:sldId id="259" r:id="rId3"/>
    <p:sldId id="260" r:id="rId4"/>
    <p:sldId id="261" r:id="rId5"/>
    <p:sldId id="262" r:id="rId6"/>
    <p:sldId id="263" r:id="rId7"/>
    <p:sldId id="265" r:id="rId8"/>
    <p:sldId id="268" r:id="rId9"/>
    <p:sldId id="271" r:id="rId10"/>
    <p:sldId id="272" r:id="rId11"/>
    <p:sldId id="276" r:id="rId12"/>
    <p:sldId id="269" r:id="rId13"/>
    <p:sldId id="270" r:id="rId14"/>
    <p:sldId id="277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E68050-78E2-4E9C-A98E-1354618D8982}" v="1" dt="2026-03-19T16:41:03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llamkonda Satya sai venkateswarlu" userId="a00ae827de090eec" providerId="LiveId" clId="{2E0DFA91-85F5-4C63-AE93-6F1657668455}"/>
    <pc:docChg chg="undo custSel addSld modSld">
      <pc:chgData name="Bellamkonda Satya sai venkateswarlu" userId="a00ae827de090eec" providerId="LiveId" clId="{2E0DFA91-85F5-4C63-AE93-6F1657668455}" dt="2026-03-19T16:42:55.223" v="99" actId="1076"/>
      <pc:docMkLst>
        <pc:docMk/>
      </pc:docMkLst>
      <pc:sldChg chg="modSp mod">
        <pc:chgData name="Bellamkonda Satya sai venkateswarlu" userId="a00ae827de090eec" providerId="LiveId" clId="{2E0DFA91-85F5-4C63-AE93-6F1657668455}" dt="2026-03-19T16:41:36.162" v="90" actId="20577"/>
        <pc:sldMkLst>
          <pc:docMk/>
          <pc:sldMk cId="791712982" sldId="269"/>
        </pc:sldMkLst>
        <pc:spChg chg="mod">
          <ac:chgData name="Bellamkonda Satya sai venkateswarlu" userId="a00ae827de090eec" providerId="LiveId" clId="{2E0DFA91-85F5-4C63-AE93-6F1657668455}" dt="2026-03-19T16:41:36.162" v="90" actId="20577"/>
          <ac:spMkLst>
            <pc:docMk/>
            <pc:sldMk cId="791712982" sldId="269"/>
            <ac:spMk id="2" creationId="{B128F91E-CAB3-B25F-B868-6337E56072CD}"/>
          </ac:spMkLst>
        </pc:spChg>
      </pc:sldChg>
      <pc:sldChg chg="addSp delSp modSp mod modClrScheme chgLayout">
        <pc:chgData name="Bellamkonda Satya sai venkateswarlu" userId="a00ae827de090eec" providerId="LiveId" clId="{2E0DFA91-85F5-4C63-AE93-6F1657668455}" dt="2026-03-19T16:39:31.185" v="2" actId="700"/>
        <pc:sldMkLst>
          <pc:docMk/>
          <pc:sldMk cId="2437225187" sldId="270"/>
        </pc:sldMkLst>
        <pc:spChg chg="mod ord">
          <ac:chgData name="Bellamkonda Satya sai venkateswarlu" userId="a00ae827de090eec" providerId="LiveId" clId="{2E0DFA91-85F5-4C63-AE93-6F1657668455}" dt="2026-03-19T16:39:31.185" v="2" actId="700"/>
          <ac:spMkLst>
            <pc:docMk/>
            <pc:sldMk cId="2437225187" sldId="270"/>
            <ac:spMk id="2" creationId="{B70B12F5-308B-AA10-CB52-9325D6F6ED3B}"/>
          </ac:spMkLst>
        </pc:spChg>
        <pc:spChg chg="mod ord">
          <ac:chgData name="Bellamkonda Satya sai venkateswarlu" userId="a00ae827de090eec" providerId="LiveId" clId="{2E0DFA91-85F5-4C63-AE93-6F1657668455}" dt="2026-03-19T16:39:31.185" v="2" actId="700"/>
          <ac:spMkLst>
            <pc:docMk/>
            <pc:sldMk cId="2437225187" sldId="270"/>
            <ac:spMk id="3" creationId="{2F123050-61ED-80DA-2803-6291D24F285C}"/>
          </ac:spMkLst>
        </pc:spChg>
        <pc:spChg chg="add del mod ord">
          <ac:chgData name="Bellamkonda Satya sai venkateswarlu" userId="a00ae827de090eec" providerId="LiveId" clId="{2E0DFA91-85F5-4C63-AE93-6F1657668455}" dt="2026-03-19T16:39:31.185" v="2" actId="700"/>
          <ac:spMkLst>
            <pc:docMk/>
            <pc:sldMk cId="2437225187" sldId="270"/>
            <ac:spMk id="4" creationId="{2935186A-2FB2-11D9-ADC2-6D061FC6242E}"/>
          </ac:spMkLst>
        </pc:spChg>
      </pc:sldChg>
      <pc:sldChg chg="addSp delSp modSp new mod modClrScheme chgLayout">
        <pc:chgData name="Bellamkonda Satya sai venkateswarlu" userId="a00ae827de090eec" providerId="LiveId" clId="{2E0DFA91-85F5-4C63-AE93-6F1657668455}" dt="2026-03-19T16:42:55.223" v="99" actId="1076"/>
        <pc:sldMkLst>
          <pc:docMk/>
          <pc:sldMk cId="2912946641" sldId="277"/>
        </pc:sldMkLst>
        <pc:spChg chg="del mod ord">
          <ac:chgData name="Bellamkonda Satya sai venkateswarlu" userId="a00ae827de090eec" providerId="LiveId" clId="{2E0DFA91-85F5-4C63-AE93-6F1657668455}" dt="2026-03-19T16:39:37.630" v="4" actId="700"/>
          <ac:spMkLst>
            <pc:docMk/>
            <pc:sldMk cId="2912946641" sldId="277"/>
            <ac:spMk id="2" creationId="{68472C16-D23A-A688-1136-992A765C5A70}"/>
          </ac:spMkLst>
        </pc:spChg>
        <pc:spChg chg="del mod ord">
          <ac:chgData name="Bellamkonda Satya sai venkateswarlu" userId="a00ae827de090eec" providerId="LiveId" clId="{2E0DFA91-85F5-4C63-AE93-6F1657668455}" dt="2026-03-19T16:39:37.630" v="4" actId="700"/>
          <ac:spMkLst>
            <pc:docMk/>
            <pc:sldMk cId="2912946641" sldId="277"/>
            <ac:spMk id="3" creationId="{F31E8617-7C89-B8B5-D86A-05FEF7565A82}"/>
          </ac:spMkLst>
        </pc:spChg>
        <pc:spChg chg="add mod ord">
          <ac:chgData name="Bellamkonda Satya sai venkateswarlu" userId="a00ae827de090eec" providerId="LiveId" clId="{2E0DFA91-85F5-4C63-AE93-6F1657668455}" dt="2026-03-19T16:39:56.250" v="62" actId="20577"/>
          <ac:spMkLst>
            <pc:docMk/>
            <pc:sldMk cId="2912946641" sldId="277"/>
            <ac:spMk id="4" creationId="{D64B6846-CC01-B938-535B-E47EAFF12D7B}"/>
          </ac:spMkLst>
        </pc:spChg>
        <pc:spChg chg="add del mod ord">
          <ac:chgData name="Bellamkonda Satya sai venkateswarlu" userId="a00ae827de090eec" providerId="LiveId" clId="{2E0DFA91-85F5-4C63-AE93-6F1657668455}" dt="2026-03-19T16:42:26.712" v="91" actId="931"/>
          <ac:spMkLst>
            <pc:docMk/>
            <pc:sldMk cId="2912946641" sldId="277"/>
            <ac:spMk id="5" creationId="{7BF0C562-A7C5-50D1-8D38-9324CC2C4FE2}"/>
          </ac:spMkLst>
        </pc:spChg>
        <pc:spChg chg="add mod ord">
          <ac:chgData name="Bellamkonda Satya sai venkateswarlu" userId="a00ae827de090eec" providerId="LiveId" clId="{2E0DFA91-85F5-4C63-AE93-6F1657668455}" dt="2026-03-19T16:41:17.516" v="66" actId="255"/>
          <ac:spMkLst>
            <pc:docMk/>
            <pc:sldMk cId="2912946641" sldId="277"/>
            <ac:spMk id="6" creationId="{2A787F23-E03B-503B-E005-C018809FB7EF}"/>
          </ac:spMkLst>
        </pc:spChg>
        <pc:picChg chg="add mod ord">
          <ac:chgData name="Bellamkonda Satya sai venkateswarlu" userId="a00ae827de090eec" providerId="LiveId" clId="{2E0DFA91-85F5-4C63-AE93-6F1657668455}" dt="2026-03-19T16:42:55.223" v="99" actId="1076"/>
          <ac:picMkLst>
            <pc:docMk/>
            <pc:sldMk cId="2912946641" sldId="277"/>
            <ac:picMk id="8" creationId="{257ED88D-73C9-0A83-6C08-8E5FA810D84A}"/>
          </ac:picMkLst>
        </pc:picChg>
        <pc:picChg chg="add mod">
          <ac:chgData name="Bellamkonda Satya sai venkateswarlu" userId="a00ae827de090eec" providerId="LiveId" clId="{2E0DFA91-85F5-4C63-AE93-6F1657668455}" dt="2026-03-19T16:42:53.164" v="98" actId="14100"/>
          <ac:picMkLst>
            <pc:docMk/>
            <pc:sldMk cId="2912946641" sldId="277"/>
            <ac:picMk id="10" creationId="{0E34E7F7-8A61-E7E9-1700-A669602E77E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FA29C-1A86-49DE-9255-536F45CBFC5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0CDB4-805C-46F1-A792-D0906C02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99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48823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02690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81346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08362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80485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5773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83275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09191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89618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0240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15737"/>
      </p:ext>
    </p:extLst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730679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85565"/>
      </p:ext>
    </p:extLst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41121"/>
      </p:ext>
    </p:extLst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25797"/>
      </p:ext>
    </p:extLst>
  </p:cSld>
  <p:clrMapOvr>
    <a:masterClrMapping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7087"/>
      </p:ext>
    </p:extLst>
  </p:cSld>
  <p:clrMapOvr>
    <a:masterClrMapping/>
  </p:clrMapOvr>
  <p:transition spd="med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92657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D2FC169-25D4-4F65-B179-FE278AF4269D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7A9F5-1673-410E-BC37-D45CF4D54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887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ransition spd="med">
    <p:pull/>
  </p:transition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397B3D-D28D-B7E7-1E6F-1E748F23B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60995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071B0-16C9-16AB-CCB5-594272D3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29" y="452718"/>
            <a:ext cx="9310605" cy="918882"/>
          </a:xfrm>
        </p:spPr>
        <p:txBody>
          <a:bodyPr/>
          <a:lstStyle/>
          <a:p>
            <a:r>
              <a:rPr lang="en-US" dirty="0"/>
              <a:t>                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3A9F8-5EC9-E387-8113-24613FC42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783" y="1531159"/>
            <a:ext cx="9545702" cy="4874123"/>
          </a:xfrm>
        </p:spPr>
        <p:txBody>
          <a:bodyPr>
            <a:noAutofit/>
          </a:bodyPr>
          <a:lstStyle/>
          <a:p>
            <a:r>
              <a:rPr lang="en-US" sz="1600" dirty="0"/>
              <a:t>IOT devices generate large volumes of sensor data continuously, requiring efficient real-time processing and monitoring.</a:t>
            </a:r>
          </a:p>
          <a:p>
            <a:r>
              <a:rPr lang="en-US" sz="1600" dirty="0"/>
              <a:t>Without automated systems, detecting abnormal sensor behavior is difficult, leading to device failures, downtime, and operational losses.</a:t>
            </a:r>
          </a:p>
          <a:p>
            <a:r>
              <a:rPr lang="en-US" sz="1600" dirty="0"/>
              <a:t>This project builds a scalable data pipeline to enable real-time anomaly detection and proactive monitoring of IoT systems.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</a:rPr>
              <a:t>  The main objectives of this project are</a:t>
            </a:r>
            <a:r>
              <a:rPr lang="en-US" sz="1600" dirty="0">
                <a:highlight>
                  <a:srgbClr val="00FF00"/>
                </a:highlight>
              </a:rPr>
              <a:t>:</a:t>
            </a:r>
          </a:p>
          <a:p>
            <a:pPr marL="0" indent="0">
              <a:buNone/>
            </a:pPr>
            <a:r>
              <a:rPr lang="en-US" sz="1600" dirty="0"/>
              <a:t>              1.  Build a real-time streaming data pipeline using Amazon Kinesis.</a:t>
            </a:r>
          </a:p>
          <a:p>
            <a:pPr marL="0" indent="0">
              <a:buNone/>
            </a:pPr>
            <a:r>
              <a:rPr lang="en-US" sz="1600" dirty="0"/>
              <a:t>              2.  Implement Medallion Architecture (Bronze, Silver, Gold layers) in Databricks. </a:t>
            </a:r>
          </a:p>
          <a:p>
            <a:pPr marL="0" indent="0">
              <a:buNone/>
            </a:pPr>
            <a:r>
              <a:rPr lang="en-US" sz="1600" dirty="0"/>
              <a:t>             3.  Clean and transform raw IoT sensor data. </a:t>
            </a:r>
          </a:p>
          <a:p>
            <a:pPr marL="0" indent="0">
              <a:buNone/>
            </a:pPr>
            <a:r>
              <a:rPr lang="en-US" sz="1600" dirty="0"/>
              <a:t>             4. Apply anomaly detection techniques using Z-score.</a:t>
            </a:r>
          </a:p>
          <a:p>
            <a:pPr marL="0" indent="0">
              <a:buNone/>
            </a:pPr>
            <a:r>
              <a:rPr lang="en-US" sz="1600" dirty="0"/>
              <a:t>             5. Provide real-time dashboards for monitoring sensor health.  </a:t>
            </a:r>
          </a:p>
          <a:p>
            <a:pPr marL="0" indent="0">
              <a:buNone/>
            </a:pPr>
            <a:r>
              <a:rPr lang="en-US" sz="1600" dirty="0"/>
              <a:t>             6.  Trigger Slack alerts for critical anomalies.</a:t>
            </a:r>
          </a:p>
          <a:p>
            <a:pPr marL="0" indent="0">
              <a:buNone/>
            </a:pPr>
            <a:r>
              <a:rPr lang="en-US" sz="1600"/>
              <a:t>             7. </a:t>
            </a:r>
            <a:r>
              <a:rPr lang="en-US" sz="1600" dirty="0"/>
              <a:t>This enables proactive monitoring and predictive maintenance.</a:t>
            </a:r>
          </a:p>
        </p:txBody>
      </p:sp>
    </p:spTree>
    <p:extLst>
      <p:ext uri="{BB962C8B-B14F-4D97-AF65-F5344CB8AC3E}">
        <p14:creationId xmlns:p14="http://schemas.microsoft.com/office/powerpoint/2010/main" val="472364283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F8C77-7B09-8B27-CF92-663F7F010C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533650"/>
            <a:ext cx="8761413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D8FAF8B-54D6-FBF4-ED96-96FEF877B2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BC18D2F-C9E9-6ED7-D9DE-49EC33825D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-163286"/>
            <a:ext cx="3897086" cy="3897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693412-7CAA-217A-3BD4-396AD21F8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79500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7C6A1A-951E-AEBB-B9BB-98A889465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885" y="531159"/>
            <a:ext cx="7576457" cy="57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3611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FC40D5-CC14-2A09-D923-7CF053F50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9" y="283029"/>
            <a:ext cx="10678885" cy="637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14819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82D4-0438-8EB4-1FBF-F8A7EBD5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Medallion </a:t>
            </a:r>
            <a:r>
              <a:rPr lang="en-US" dirty="0" err="1"/>
              <a:t>Architecure</a:t>
            </a:r>
            <a:r>
              <a:rPr lang="en-US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E2BBF3-1FC6-5503-850A-814EF1B7A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502228"/>
            <a:ext cx="9786258" cy="515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58396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4F69C4A-BD3A-39B2-002F-239C1062A063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29" y="1306286"/>
            <a:ext cx="3788228" cy="4996542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Ingested raw IoT sensor dataset (CSV) into the data pipeline.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Stored the incoming raw data in AWS S3 Data Lake for scalable storage.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Loaded raw data into Databricks Delta tables in the Bronze layer.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 Preserved the original structure and schema of the data without transformations.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/>
                </a:solidFill>
              </a:rPr>
              <a:t>Maintained data lineage and traceability to allow reprocessing when required.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41C2E5-DDB0-3320-B4B3-69A1E3A1B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10857" y="522515"/>
            <a:ext cx="2936241" cy="576262"/>
          </a:xfrm>
        </p:spPr>
        <p:txBody>
          <a:bodyPr/>
          <a:lstStyle/>
          <a:p>
            <a:r>
              <a:rPr lang="en-US" dirty="0"/>
              <a:t>         SILVER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535079-7299-1AAA-1359-6CE05A8542C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261759" y="1306286"/>
            <a:ext cx="3434441" cy="4996542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Cleaned the raw IoT sensor data received from the Bronze layer.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Removed invalid or missing sensor readings to improve data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Standardized column formats and data types for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Filtered noise and incorrect records from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Applied data transformations using </a:t>
            </a:r>
            <a:r>
              <a:rPr lang="en-US" sz="1600" dirty="0" err="1">
                <a:solidFill>
                  <a:schemeClr val="bg1"/>
                </a:solidFill>
              </a:rPr>
              <a:t>PySpark</a:t>
            </a:r>
            <a:r>
              <a:rPr lang="en-US" sz="1600" dirty="0">
                <a:solidFill>
                  <a:schemeClr val="bg1"/>
                </a:solidFill>
              </a:rPr>
              <a:t> in Databricks.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Stored the processed and validated data into Silver Delta tables for analytics.</a:t>
            </a:r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A69D53-6E0C-3680-015A-2E0DC93579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30392" y="522515"/>
            <a:ext cx="2932113" cy="576262"/>
          </a:xfrm>
        </p:spPr>
        <p:txBody>
          <a:bodyPr/>
          <a:lstStyle/>
          <a:p>
            <a:r>
              <a:rPr lang="en-US" dirty="0"/>
              <a:t>          GOLD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697603-EDE9-CB89-8135-52D9D713E9FE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039102" y="1306286"/>
            <a:ext cx="3532415" cy="5007429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25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Created analytics-ready datasets from the processed Silver layer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Aggregated IoT sensor data to generate device performance metrics.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Calculated anomaly detection indicators for monitoring abnormal sensor behavior.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Generated device utilization and operational statistics.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Prepared datasets for real-time monitoring dashboards in Databricks.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 Enabled business insights and decision-making through analytical tables.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Supported predictive maintenance analysis using device health metrics.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Integrated alerting mechanisms (Slack notifications) for anomaly events.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5BF7CB-5145-3037-FEA5-FCE2EE70F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2946" y="522515"/>
            <a:ext cx="2946866" cy="576262"/>
          </a:xfrm>
        </p:spPr>
        <p:txBody>
          <a:bodyPr/>
          <a:lstStyle/>
          <a:p>
            <a:r>
              <a:rPr lang="en-US" dirty="0"/>
              <a:t>        BRONZE</a:t>
            </a:r>
          </a:p>
        </p:txBody>
      </p:sp>
    </p:spTree>
    <p:extLst>
      <p:ext uri="{BB962C8B-B14F-4D97-AF65-F5344CB8AC3E}">
        <p14:creationId xmlns:p14="http://schemas.microsoft.com/office/powerpoint/2010/main" val="3591102213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52837D-2EDD-BD63-A50D-32B3BF546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and Data Quality Checks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233CD-AD0D-4FDF-3794-7D8900452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Implemented data validation checks to ensure only valid IoT sensor records are processed.</a:t>
            </a:r>
          </a:p>
          <a:p>
            <a:r>
              <a:rPr lang="en-US" dirty="0"/>
              <a:t> Filtered null values, corrupted records, and invalid sensor readings during data transformation.</a:t>
            </a:r>
          </a:p>
          <a:p>
            <a:r>
              <a:rPr lang="en-US" dirty="0"/>
              <a:t>Applied schema validation while ingesting data into Bronze and Silver layers.</a:t>
            </a:r>
          </a:p>
          <a:p>
            <a:r>
              <a:rPr lang="en-US" dirty="0"/>
              <a:t> Logged errors and abnormal records into separate monitoring logs for debugging.</a:t>
            </a:r>
          </a:p>
          <a:p>
            <a:r>
              <a:rPr lang="en-US" dirty="0"/>
              <a:t> Implemented anomaly detection checks using Z-score to identify abnormal sensor behavior.</a:t>
            </a:r>
          </a:p>
          <a:p>
            <a:r>
              <a:rPr lang="en-US" dirty="0"/>
              <a:t>Integrated Slack alerts for high anomaly rates to notify the monitoring team in real time.</a:t>
            </a:r>
          </a:p>
        </p:txBody>
      </p:sp>
    </p:spTree>
    <p:extLst>
      <p:ext uri="{BB962C8B-B14F-4D97-AF65-F5344CB8AC3E}">
        <p14:creationId xmlns:p14="http://schemas.microsoft.com/office/powerpoint/2010/main" val="1766595000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337CC-5219-A396-ED9C-A81390FE8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426" y="80024"/>
            <a:ext cx="9404723" cy="1400530"/>
          </a:xfrm>
        </p:spPr>
        <p:txBody>
          <a:bodyPr/>
          <a:lstStyle/>
          <a:p>
            <a:r>
              <a:rPr lang="en-US" dirty="0"/>
              <a:t>                     </a:t>
            </a:r>
            <a:r>
              <a:rPr lang="en-US" dirty="0" err="1"/>
              <a:t>DashBoards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513CFBA-B1B5-F834-9E12-A7B479B03F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6200" y="707571"/>
            <a:ext cx="12377057" cy="615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23886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7F6DA0-6DE5-C723-C6CD-463C4E2CD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703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46669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9BB4D6A-BCA5-5D43-B922-4FBD417D8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058"/>
            <a:ext cx="12192000" cy="667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85794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F91E-CAB3-B25F-B868-6337E5607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</a:t>
            </a:r>
            <a:r>
              <a:rPr lang="en-US" dirty="0" err="1"/>
              <a:t>AirFlow</a:t>
            </a:r>
            <a:r>
              <a:rPr lang="en-US" dirty="0"/>
              <a:t>(Pipeline Orchestration)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6F803-6CAB-2315-3E2D-54A88F888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Designed an automated data pipeline workflow to manage the end-to-end IoT data processing.</a:t>
            </a:r>
          </a:p>
          <a:p>
            <a:r>
              <a:rPr lang="en-US" dirty="0"/>
              <a:t>Used Apache Airflow DAG to orchestrate different pipeline stages. </a:t>
            </a:r>
          </a:p>
          <a:p>
            <a:r>
              <a:rPr lang="en-US" dirty="0"/>
              <a:t>Scheduled pipeline execution to run automatically at defined intervals.</a:t>
            </a:r>
          </a:p>
          <a:p>
            <a:r>
              <a:rPr lang="en-US" dirty="0"/>
              <a:t> Triggered Databricks notebooks for Bronze, Silver, and Gold layer processing.</a:t>
            </a:r>
          </a:p>
          <a:p>
            <a:r>
              <a:rPr lang="en-US" dirty="0"/>
              <a:t>Managed task dependencies to ensure proper execution order of the pipeline</a:t>
            </a:r>
          </a:p>
          <a:p>
            <a:r>
              <a:rPr lang="en-US" dirty="0"/>
              <a:t> Implemented monitoring of pipeline runs and task execution status.</a:t>
            </a:r>
          </a:p>
          <a:p>
            <a:r>
              <a:rPr lang="en-US" dirty="0"/>
              <a:t> Integrated Slack notifications for pipeline alerts and anomaly events.</a:t>
            </a:r>
          </a:p>
          <a:p>
            <a:r>
              <a:rPr lang="en-US" dirty="0"/>
              <a:t> Enabled reliable and scalable workflow automation for continuous data processing.</a:t>
            </a:r>
          </a:p>
        </p:txBody>
      </p:sp>
    </p:spTree>
    <p:extLst>
      <p:ext uri="{BB962C8B-B14F-4D97-AF65-F5344CB8AC3E}">
        <p14:creationId xmlns:p14="http://schemas.microsoft.com/office/powerpoint/2010/main" val="791712982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12F5-308B-AA10-CB52-9325D6F6E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Alerts/Monitoring/Logging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23050-61ED-80DA-2803-6291D24F2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Implemented real-time anomaly detection monitoring to track abnormal IoT sensor readings.</a:t>
            </a:r>
          </a:p>
          <a:p>
            <a:r>
              <a:rPr lang="en-US" dirty="0"/>
              <a:t> Configured Slack notifications to alert the team when anomaly rates exceed defined thresholds.</a:t>
            </a:r>
          </a:p>
          <a:p>
            <a:r>
              <a:rPr lang="en-US" dirty="0"/>
              <a:t>Monitored pipeline execution status using Apache Airflow DAG runs.</a:t>
            </a:r>
          </a:p>
          <a:p>
            <a:r>
              <a:rPr lang="en-US" dirty="0"/>
              <a:t>Tracked data processing stages across Bronze, Silver, and Gold layers.</a:t>
            </a:r>
          </a:p>
          <a:p>
            <a:r>
              <a:rPr lang="en-US" dirty="0"/>
              <a:t> Logged pipeline activities and processing details for debugging and auditing.</a:t>
            </a:r>
          </a:p>
          <a:p>
            <a:r>
              <a:rPr lang="en-US" dirty="0"/>
              <a:t>Enabled continuous monitoring of device performance and sensor behavior through dashboards.</a:t>
            </a:r>
          </a:p>
        </p:txBody>
      </p:sp>
    </p:spTree>
    <p:extLst>
      <p:ext uri="{BB962C8B-B14F-4D97-AF65-F5344CB8AC3E}">
        <p14:creationId xmlns:p14="http://schemas.microsoft.com/office/powerpoint/2010/main" val="2437225187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4B6846-CC01-B938-535B-E47EAFF1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96" y="109221"/>
            <a:ext cx="6258217" cy="598350"/>
          </a:xfrm>
        </p:spPr>
        <p:txBody>
          <a:bodyPr/>
          <a:lstStyle/>
          <a:p>
            <a:r>
              <a:rPr lang="en-IN" dirty="0"/>
              <a:t>                                   Data Build Tools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7ED88D-73C9-0A83-6C08-8E5FA810D8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7253" y="1419214"/>
            <a:ext cx="4065889" cy="3826662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787F23-E03B-503B-E005-C018809FB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858" y="1045029"/>
            <a:ext cx="4447160" cy="5606141"/>
          </a:xfrm>
        </p:spPr>
        <p:txBody>
          <a:bodyPr/>
          <a:lstStyle/>
          <a:p>
            <a:r>
              <a:rPr lang="en-US" sz="1600" dirty="0"/>
              <a:t>Integrated </a:t>
            </a:r>
            <a:r>
              <a:rPr lang="en-US" sz="1600" dirty="0" err="1"/>
              <a:t>dbt</a:t>
            </a:r>
            <a:r>
              <a:rPr lang="en-US" sz="1600" dirty="0"/>
              <a:t> in the Gold layer to perform advanced transformations on IoT sensor data.</a:t>
            </a:r>
          </a:p>
          <a:p>
            <a:r>
              <a:rPr lang="en-US" sz="1600" dirty="0"/>
              <a:t>Used existing fact and dimension tables (</a:t>
            </a:r>
            <a:r>
              <a:rPr lang="en-US" sz="1600" dirty="0" err="1"/>
              <a:t>fact_device_monitoring</a:t>
            </a:r>
            <a:r>
              <a:rPr lang="en-US" sz="1600" dirty="0"/>
              <a:t>, </a:t>
            </a:r>
            <a:r>
              <a:rPr lang="en-US" sz="1600" dirty="0" err="1"/>
              <a:t>dim_sensor</a:t>
            </a:r>
            <a:r>
              <a:rPr lang="en-US" sz="1600" dirty="0"/>
              <a:t>, </a:t>
            </a:r>
            <a:r>
              <a:rPr lang="en-US" sz="1600" dirty="0" err="1"/>
              <a:t>dim_location</a:t>
            </a:r>
            <a:r>
              <a:rPr lang="en-US" sz="1600" dirty="0"/>
              <a:t>, </a:t>
            </a:r>
            <a:r>
              <a:rPr lang="en-US" sz="1600" dirty="0" err="1"/>
              <a:t>dim_time</a:t>
            </a:r>
            <a:r>
              <a:rPr lang="en-US" sz="1600" dirty="0"/>
              <a:t>) as input sources.</a:t>
            </a:r>
          </a:p>
          <a:p>
            <a:r>
              <a:rPr lang="en-US" sz="1600" dirty="0"/>
              <a:t>Built </a:t>
            </a:r>
            <a:r>
              <a:rPr lang="en-US" sz="1600" dirty="0" err="1"/>
              <a:t>dbt</a:t>
            </a:r>
            <a:r>
              <a:rPr lang="en-US" sz="1600" dirty="0"/>
              <a:t> models to generate insights like device health analysis, anomaly detection, downtime analysis, and critical device monitoring.</a:t>
            </a:r>
          </a:p>
          <a:p>
            <a:r>
              <a:rPr lang="en-US" sz="1600" dirty="0"/>
              <a:t>Created modular SQL models to improve scalability, reusability, and maintainability of the pipeline.</a:t>
            </a:r>
          </a:p>
          <a:p>
            <a:r>
              <a:rPr lang="en-US" sz="1600" dirty="0"/>
              <a:t>Applied data quality tests (like not null, unique) using </a:t>
            </a:r>
            <a:r>
              <a:rPr lang="en-US" sz="1600" dirty="0" err="1"/>
              <a:t>dbt</a:t>
            </a:r>
            <a:r>
              <a:rPr lang="en-US" sz="1600" dirty="0"/>
              <a:t> to ensure accurate and reliable data.</a:t>
            </a:r>
          </a:p>
          <a:p>
            <a:r>
              <a:rPr lang="en-US" sz="1600" dirty="0"/>
              <a:t>Materialized </a:t>
            </a:r>
            <a:r>
              <a:rPr lang="en-US" sz="1600" dirty="0" err="1"/>
              <a:t>dbt</a:t>
            </a:r>
            <a:r>
              <a:rPr lang="en-US" sz="1600" dirty="0"/>
              <a:t> models as tables in Databricks Delta Lake, which are used for dashboards and monitoring.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34E7F7-8A61-E7E9-1700-A669602E7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138" y="1419214"/>
            <a:ext cx="3729548" cy="382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46641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1C44-94DB-0422-7744-376B46A1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DA643-2CB2-46E6-7ED6-6DD18D52A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065431" cy="4195481"/>
          </a:xfrm>
        </p:spPr>
        <p:txBody>
          <a:bodyPr>
            <a:noAutofit/>
          </a:bodyPr>
          <a:lstStyle/>
          <a:p>
            <a:r>
              <a:rPr lang="en-US" sz="2400" dirty="0"/>
              <a:t>Developed </a:t>
            </a:r>
            <a:r>
              <a:rPr lang="en-US" sz="2400" dirty="0" err="1"/>
              <a:t>PyTest</a:t>
            </a:r>
            <a:r>
              <a:rPr lang="en-US" sz="2400" dirty="0"/>
              <a:t> unit tests to validate the Bronze, Silver, and Gold layer tables.</a:t>
            </a:r>
          </a:p>
          <a:p>
            <a:r>
              <a:rPr lang="en-US" sz="2400" dirty="0"/>
              <a:t> Verified that all required tables are created successfully in the pipeline.</a:t>
            </a:r>
          </a:p>
          <a:p>
            <a:r>
              <a:rPr lang="en-US" sz="2400" dirty="0"/>
              <a:t> Checked that data is properly loaded and row counts are greater than zero.</a:t>
            </a:r>
          </a:p>
          <a:p>
            <a:r>
              <a:rPr lang="en-US" sz="2400" dirty="0"/>
              <a:t>Ensured schema validation and correct column names across all tables.</a:t>
            </a:r>
          </a:p>
          <a:p>
            <a:r>
              <a:rPr lang="en-US" sz="2400" dirty="0"/>
              <a:t>Performed data quality checks such as duplicate detection and invalid value filtering.</a:t>
            </a:r>
          </a:p>
        </p:txBody>
      </p:sp>
    </p:spTree>
    <p:extLst>
      <p:ext uri="{BB962C8B-B14F-4D97-AF65-F5344CB8AC3E}">
        <p14:creationId xmlns:p14="http://schemas.microsoft.com/office/powerpoint/2010/main" val="3043391216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DAC3-686C-C5A9-EB94-7315ADF45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Business </a:t>
            </a:r>
            <a:r>
              <a:rPr lang="en-US" dirty="0" err="1"/>
              <a:t>OutCome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73238-5129-7581-6A84-F648E3C69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Enables real-time monitoring of IoT sensor data to track device performance.</a:t>
            </a:r>
          </a:p>
          <a:p>
            <a:r>
              <a:rPr lang="en-US" sz="1800" dirty="0"/>
              <a:t> Detects anomalies early, helping prevent potential device failures.</a:t>
            </a:r>
          </a:p>
          <a:p>
            <a:r>
              <a:rPr lang="en-US" sz="1800" dirty="0"/>
              <a:t> Reduces equipment downtime and maintenance costs through proactive alerts.</a:t>
            </a:r>
          </a:p>
          <a:p>
            <a:r>
              <a:rPr lang="en-US" sz="1800" dirty="0"/>
              <a:t> Improves data reliability and decision-making using clean and structured datasets.</a:t>
            </a:r>
          </a:p>
          <a:p>
            <a:r>
              <a:rPr lang="en-US" sz="1800" dirty="0"/>
              <a:t> Provides actionable insights through dashboards and analytics for operational teams.</a:t>
            </a:r>
          </a:p>
          <a:p>
            <a:r>
              <a:rPr lang="en-US" sz="1800" dirty="0"/>
              <a:t>Supports predictive maintenance strategies for better resource planning.</a:t>
            </a:r>
          </a:p>
          <a:p>
            <a:r>
              <a:rPr lang="en-US" sz="1800" dirty="0"/>
              <a:t>Builds a scalable and automated data pipeline architecture for future IoT systems.</a:t>
            </a:r>
          </a:p>
        </p:txBody>
      </p:sp>
    </p:spTree>
    <p:extLst>
      <p:ext uri="{BB962C8B-B14F-4D97-AF65-F5344CB8AC3E}">
        <p14:creationId xmlns:p14="http://schemas.microsoft.com/office/powerpoint/2010/main" val="620083683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4D05E6-E612-E770-581B-E532875EE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07122"/>
      </p:ext>
    </p:extLst>
  </p:cSld>
  <p:clrMapOvr>
    <a:masterClrMapping/>
  </p:clrMapOvr>
  <p:transition spd="med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508</TotalTime>
  <Words>920</Words>
  <Application>Microsoft Office PowerPoint</Application>
  <PresentationFormat>Widescreen</PresentationFormat>
  <Paragraphs>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Gothic</vt:lpstr>
      <vt:lpstr>Wingdings</vt:lpstr>
      <vt:lpstr>Wingdings 3</vt:lpstr>
      <vt:lpstr>Ion</vt:lpstr>
      <vt:lpstr>PowerPoint Presentation</vt:lpstr>
      <vt:lpstr>                Project Objective</vt:lpstr>
      <vt:lpstr>PowerPoint Presentation</vt:lpstr>
      <vt:lpstr>PowerPoint Presentation</vt:lpstr>
      <vt:lpstr>PowerPoint Presentation</vt:lpstr>
      <vt:lpstr>           Medallion Architecure </vt:lpstr>
      <vt:lpstr>PowerPoint Presentation</vt:lpstr>
      <vt:lpstr>Error Handling and Data Quality Checks</vt:lpstr>
      <vt:lpstr>                     DashBoards</vt:lpstr>
      <vt:lpstr>PowerPoint Presentation</vt:lpstr>
      <vt:lpstr>PowerPoint Presentation</vt:lpstr>
      <vt:lpstr>     AirFlow(Pipeline Orchestration)</vt:lpstr>
      <vt:lpstr>Alerts/Monitoring/Logging</vt:lpstr>
      <vt:lpstr>                                   Data Build Tools</vt:lpstr>
      <vt:lpstr>                      Testing</vt:lpstr>
      <vt:lpstr>          Business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Shanmukh Reddy</dc:creator>
  <cp:lastModifiedBy>Bellamkonda Satya sai venkateswarlu</cp:lastModifiedBy>
  <cp:revision>1</cp:revision>
  <dcterms:created xsi:type="dcterms:W3CDTF">2026-03-15T10:48:14Z</dcterms:created>
  <dcterms:modified xsi:type="dcterms:W3CDTF">2026-03-19T16:42:58Z</dcterms:modified>
</cp:coreProperties>
</file>